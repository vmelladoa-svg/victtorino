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365760" cy="6400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VICTTORINO  ·  Mayo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Victoria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0">
                <a:solidFill>
                  <a:srgbClr val="E2E8F0"/>
                </a:solidFill>
                <a:latin typeface="Calibri"/>
              </a:rPr>
              <a:t>Asistente Virtual y Sistema de Automatización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Estado del proyecto · Equipo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El desafío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Por qué necesitamos automatizar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515600" cy="45720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3B82F6"/>
                </a:solidFill>
                <a:latin typeface="Calibri"/>
              </a:rPr>
              <a:t>•  </a:t>
            </a:r>
            <a:r>
              <a:rPr sz="2000">
                <a:solidFill>
                  <a:srgbClr val="0F172A"/>
                </a:solidFill>
                <a:latin typeface="Calibri"/>
              </a:rPr>
              <a:t>Operamos en 6 canales: tienda física, victtorino.cl, MercadoLibre (3 cuentas), Falabella, París y Walmart.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3B82F6"/>
                </a:solidFill>
                <a:latin typeface="Calibri"/>
              </a:rPr>
              <a:t>•  </a:t>
            </a:r>
            <a:r>
              <a:rPr sz="2000">
                <a:solidFill>
                  <a:srgbClr val="0F172A"/>
                </a:solidFill>
                <a:latin typeface="Calibri"/>
              </a:rPr>
              <a:t>Decenas de preguntas y pedidos por día — cada uno necesita respuesta clara y rápida.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3B82F6"/>
                </a:solidFill>
                <a:latin typeface="Calibri"/>
              </a:rPr>
              <a:t>•  </a:t>
            </a:r>
            <a:r>
              <a:rPr sz="2000">
                <a:solidFill>
                  <a:srgbClr val="0F172A"/>
                </a:solidFill>
                <a:latin typeface="Calibri"/>
              </a:rPr>
              <a:t>Atender manualmente no escala: noche, fines de semana, vacaciones.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3B82F6"/>
                </a:solidFill>
                <a:latin typeface="Calibri"/>
              </a:rPr>
              <a:t>•  </a:t>
            </a:r>
            <a:r>
              <a:rPr sz="2000">
                <a:solidFill>
                  <a:srgbClr val="0F172A"/>
                </a:solidFill>
                <a:latin typeface="Calibri"/>
              </a:rPr>
              <a:t>Cada minuto sin respuesta es una venta que se enfría o que se va a la competencia.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3B82F6"/>
                </a:solidFill>
                <a:latin typeface="Calibri"/>
              </a:rPr>
              <a:t>•  </a:t>
            </a:r>
            <a:r>
              <a:rPr sz="2000">
                <a:solidFill>
                  <a:srgbClr val="0F172A"/>
                </a:solidFill>
                <a:latin typeface="Calibri"/>
              </a:rPr>
              <a:t>Necesitamos respuestas consistentes, en chileno, con la información correcta — siempre.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Lo que construimos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Tres piezas que trabajan juntas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377440"/>
            <a:ext cx="320040" cy="3200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Victoria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199"/>
            <a:ext cx="292608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Asistente de WhatsApp con IA. Habla chileno, conoce el negocio y responde como un buen vendedor.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1168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2377440"/>
            <a:ext cx="320040" cy="3200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78892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315468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Automatización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886199"/>
            <a:ext cx="292608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Las 3 cuentas de MercadoLibre responden preguntas y envían mensajes post-compra automáticamente.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01168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2377440"/>
            <a:ext cx="320040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78892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154680"/>
            <a:ext cx="31089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Calibri"/>
              </a:rPr>
              <a:t>Operación de fondo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886199"/>
            <a:ext cx="292608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Auditorías, mejora de fichas, reposición de stock, informes — todo en piloto automático.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Victoria — Atención por WhatsApp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El agente que conversa por nosotros 24/7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6858000" cy="45720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 </a:t>
            </a:r>
            <a:r>
              <a:rPr sz="1800">
                <a:solidFill>
                  <a:srgbClr val="0F172A"/>
                </a:solidFill>
                <a:latin typeface="Calibri"/>
              </a:rPr>
              <a:t>Habla español chileno, tono amigable con cercanía profesional.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 </a:t>
            </a:r>
            <a:r>
              <a:rPr sz="1800">
                <a:solidFill>
                  <a:srgbClr val="0F172A"/>
                </a:solidFill>
                <a:latin typeface="Calibri"/>
              </a:rPr>
              <a:t>Sabe productos, precios top, envíos a regiones y medios de pago.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 </a:t>
            </a:r>
            <a:r>
              <a:rPr sz="1800">
                <a:solidFill>
                  <a:srgbClr val="0F172A"/>
                </a:solidFill>
                <a:latin typeface="Calibri"/>
              </a:rPr>
              <a:t>Atiende dudas, califica ventas y orienta a victtorino.cl o a la tienda física.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 </a:t>
            </a:r>
            <a:r>
              <a:rPr sz="1800">
                <a:solidFill>
                  <a:srgbClr val="0F172A"/>
                </a:solidFill>
                <a:latin typeface="Calibri"/>
              </a:rPr>
              <a:t>Detecta cuándo un humano respondió: se queda callada por 60 min para no pisar.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•  </a:t>
            </a:r>
            <a:r>
              <a:rPr sz="1800">
                <a:solidFill>
                  <a:srgbClr val="0F172A"/>
                </a:solidFill>
                <a:latin typeface="Calibri"/>
              </a:rPr>
              <a:t>Cada conversación queda registrada en memoria — el cliente no se repite.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91640"/>
            <a:ext cx="3657600" cy="4754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874520"/>
            <a:ext cx="3291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Ejemplo de conversación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331720"/>
            <a:ext cx="2743200" cy="640080"/>
          </a:xfrm>
          <a:prstGeom prst="roundRect">
            <a:avLst>
              <a:gd name="adj" fmla="val 3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9" y="2404872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Tienen lavaplatos 80x44 con secador?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79" y="3108960"/>
            <a:ext cx="2743200" cy="1645920"/>
          </a:xfrm>
          <a:prstGeom prst="roundRect">
            <a:avLst>
              <a:gd name="adj" fmla="val 1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39" y="3200400"/>
            <a:ext cx="246888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¡Hola! Sí, tenemos el de 80x44 con secador derecho o izquierdo a $33.082. Lo puedes ver en victtorino.cl. ¿Necesitas envío?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4937760"/>
            <a:ext cx="2743200" cy="640080"/>
          </a:xfrm>
          <a:prstGeom prst="roundRect">
            <a:avLst>
              <a:gd name="adj" fmla="val 3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9" y="5001768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Sí, a Concepción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79" y="5715000"/>
            <a:ext cx="2743200" cy="594360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9" y="5788152"/>
            <a:ext cx="24688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Envío $4.990, gratis sobre $60.000 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MercadoLibre — 3 cuentas en piloto automático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Preguntas + post-compra, sin levantar un dedo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00400"/>
                <a:gridCol w="713232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Cuenta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Alias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Lo que hace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PREMIUMGRIFERIAS1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Responde preguntas + mensaje post-compra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VICTTORINOFICIAL2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Responde preguntas + mensaje post-compra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C3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NOVAGRIFERIAS3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Responde preguntas + mensaje post-compra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297680"/>
            <a:ext cx="10515600" cy="228600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Polling cada 5 min: detecta preguntas nuevas y responde con la información del producto.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Polling cada 10 min: detecta órdenes nuevas (últimas 24h) y envía mensaje post-compra al comprador.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Mensaje post-compra sugiere productos complementarios según el producto comprado.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3B82F6"/>
                </a:solidFill>
                <a:latin typeface="Calibri"/>
              </a:rPr>
              <a:t>•  </a:t>
            </a:r>
            <a:r>
              <a:rPr sz="1600">
                <a:solidFill>
                  <a:srgbClr val="0F172A"/>
                </a:solidFill>
                <a:latin typeface="Calibri"/>
              </a:rPr>
              <a:t>Cada acción se notifica al dueño por WhatsApp.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Lo que sucede sin que te enteres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Tareas automáticas y herramientas operativas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9144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48463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Auditorías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8463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Calidad de fichas en las 3 cuentas ML. Detecta fichas con atributos incompletos, fotos malas, descripciones flojas.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373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59" y="2011680"/>
            <a:ext cx="9144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59" y="1938528"/>
            <a:ext cx="48463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Mejora de fichas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2377440"/>
            <a:ext cx="48463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Genera descripciones e imágenes mejoradas con IA y las publica.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918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66160"/>
            <a:ext cx="9144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93008"/>
            <a:ext cx="48463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Reposición de stock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31920"/>
            <a:ext cx="48463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Mantiene el inventario sincronizado entre canales.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29184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59" y="3566160"/>
            <a:ext cx="9144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59" y="3493008"/>
            <a:ext cx="48463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Sync WooCommerce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3931920"/>
            <a:ext cx="48463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victtorino.cl y el sistema central comparten productos y pedidos.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20640"/>
            <a:ext cx="9144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047488"/>
            <a:ext cx="48463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Informes ejecutivos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86400"/>
            <a:ext cx="48463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PDFs gerenciales generados automáticamente con métricas del negocio.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84632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37959" y="5120640"/>
            <a:ext cx="9144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59" y="5047488"/>
            <a:ext cx="48463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Tareas nocturnas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5486400"/>
            <a:ext cx="48463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Refresh de tokens, scrapers de facturación, reportes — todo programado.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Cómo se conecta 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Una vista simple del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783080"/>
            <a:ext cx="2743200" cy="914400"/>
          </a:xfrm>
          <a:prstGeom prst="roundRect">
            <a:avLst>
              <a:gd name="adj" fmla="val 1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27432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WhatsApp
(clientes)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783080"/>
            <a:ext cx="2743200" cy="914400"/>
          </a:xfrm>
          <a:prstGeom prst="roundRect">
            <a:avLst>
              <a:gd name="adj" fmla="val 18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783080"/>
            <a:ext cx="27432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MercadoLibre
(3 cuentas)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783080"/>
            <a:ext cx="2743200" cy="914400"/>
          </a:xfrm>
          <a:prstGeom prst="roundRect">
            <a:avLst>
              <a:gd name="adj" fmla="val 18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783080"/>
            <a:ext cx="274320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victtorino.cl
(WooCommerce)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8880" y="2697480"/>
            <a:ext cx="0" cy="50292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26480" y="2697480"/>
            <a:ext cx="0" cy="50292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784080" y="2697480"/>
            <a:ext cx="0" cy="50292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0" y="3200400"/>
            <a:ext cx="4846320" cy="137160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324612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3B82F6"/>
                </a:solidFill>
                <a:latin typeface="Calibri"/>
              </a:rPr>
              <a:t>VICTORIA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61188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Cerebro IA (Claude)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069080"/>
            <a:ext cx="48463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  <a:latin typeface="Calibri"/>
              </a:rPr>
              <a:t>FastAPI · Memoria de conversaciones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4572000"/>
            <a:ext cx="0" cy="45720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657600" y="5029200"/>
            <a:ext cx="4846320" cy="914400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5029200"/>
            <a:ext cx="484632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Base de datos · Railway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636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Todo corre en la nube (Railway). Sin servidores propios, sin mantención.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Hoy en producción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Lo que está vivo y funcionando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3736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4114800"/>
              </a:tblGrid>
              <a:tr h="5029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Victoria en Railway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B981"/>
                          </a:solidFill>
                          <a:latin typeface="Calibri"/>
                        </a:rPr>
                        <a:t>✓  </a:t>
                      </a:r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Activo 24/7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Atención WhatsApp (Meta API)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B981"/>
                          </a:solidFill>
                          <a:latin typeface="Calibri"/>
                        </a:rPr>
                        <a:t>✓  </a:t>
                      </a:r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Activa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Preguntas MercadoLibre (3 cuentas)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B981"/>
                          </a:solidFill>
                          <a:latin typeface="Calibri"/>
                        </a:rPr>
                        <a:t>✓  </a:t>
                      </a:r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Activa, polling 5 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Mensajes post-compra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B981"/>
                          </a:solidFill>
                          <a:latin typeface="Calibri"/>
                        </a:rPr>
                        <a:t>✓  </a:t>
                      </a:r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Activa, polling 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Renovación de tokens ML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B981"/>
                          </a:solidFill>
                          <a:latin typeface="Calibri"/>
                        </a:rPr>
                        <a:t>✓  </a:t>
                      </a:r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Automática cada 5 horas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Sincronización con WooCommerce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B981"/>
                          </a:solidFill>
                          <a:latin typeface="Calibri"/>
                        </a:rPr>
                        <a:t>✓  </a:t>
                      </a:r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Activa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Logs y memoria persistente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0B981"/>
                          </a:solidFill>
                          <a:latin typeface="Calibri"/>
                        </a:rPr>
                        <a:t>✓  </a:t>
                      </a:r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Activa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Lo que estamos ganando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Valor que se siente en el día a día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3B82F6"/>
                </a:solidFill>
                <a:latin typeface="Calibri"/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03120"/>
            <a:ext cx="4114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Tiempo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51760"/>
            <a:ext cx="4114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Respuestas instantáneas. Sin esperar al horario laboral. Sin perder ventas en la noche o fines de semana.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78308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399" y="205740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3B82F6"/>
                </a:solidFill>
                <a:latin typeface="Calibri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103120"/>
            <a:ext cx="4114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Escala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651760"/>
            <a:ext cx="4114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Atiende N consultas en paralelo sin colas. Si crece el volumen, no hay que contratar más gente.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148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8912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3B82F6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434840"/>
            <a:ext cx="4114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Consistencia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983480"/>
            <a:ext cx="4114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Mismo tono, misma información, mismas políticas — siempre. Cero errores por cansancio o distracción.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41148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399" y="4389120"/>
            <a:ext cx="914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0">
                <a:solidFill>
                  <a:srgbClr val="3B82F6"/>
                </a:solidFill>
                <a:latin typeface="Calibr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434840"/>
            <a:ext cx="41148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Calibri"/>
              </a:rPr>
              <a:t>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983480"/>
            <a:ext cx="4114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Cada conversación queda registrada. Patrones, dudas frecuentes, productos que más se preguntan — todo medible.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3716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Lo que falta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Próximas mejoras priorizadas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Corto plazo (1-2 meses)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11887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Dashboard de métricas en vivo (cuántas conversaciones, ventas atribuidas, tiempo de respuesta).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Que Victoria consulte stock real en tiempo real antes de responder.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Tests A/B de mensajes post-compra para optimizar la conversión.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Mediano plazo (3-6 meses)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058400" cy="11887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Integrar Falabella, París y Walmart con la misma lógica.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Que Victoria pueda crear pedidos en victtorino.cl directamente desde WhatsApp.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Audios de WhatsApp (hoy solo procesa texto).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Calibri"/>
              </a:rPr>
              <a:t>Largo plazo (6+ meses)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12080"/>
            <a:ext cx="10058400" cy="1188720"/>
          </a:xfrm>
          <a:prstGeom prst="rect">
            <a:avLst/>
          </a:prstGeom>
          <a:noFill/>
        </p:spPr>
        <p:txBody>
          <a:bodyPr wrap="square" lIns="4572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Predicción de demanda y sugerencia de reposición.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Asistente de operaciones — Victor consulta el estado del negocio por WhatsApp.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•  </a:t>
            </a:r>
            <a:r>
              <a:rPr sz="1300">
                <a:solidFill>
                  <a:srgbClr val="0F172A"/>
                </a:solidFill>
                <a:latin typeface="Calibri"/>
              </a:rPr>
              <a:t>Atribución de ventas: saber qué conversación cerró cada venta.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3716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Calibri"/>
              </a:rPr>
              <a:t>Hacia dónde vamos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9848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Un agente comercial que opere los canales
digitales como nuestro mejor vendedor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1069848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>
                <a:solidFill>
                  <a:srgbClr val="3B82F6"/>
                </a:solidFill>
                <a:latin typeface="Calibri"/>
              </a:rPr>
              <a:t>24/7, en todos los canales, con datos para decidir.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5216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alibri"/>
              </a:rPr>
              <a:t>Liberar tiempo del equipo. Crecer sin que crezca la carga operativa.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468880"/>
            <a:ext cx="137160" cy="6400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0" b="1">
                <a:solidFill>
                  <a:srgbClr val="0F172A"/>
                </a:solidFill>
                <a:latin typeface="Calibri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661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>
                <a:solidFill>
                  <a:srgbClr val="64748B"/>
                </a:solidFill>
                <a:latin typeface="Calibri"/>
              </a:rPr>
              <a:t>Conversemos.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4360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Victoria · Victtorino · Mayo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